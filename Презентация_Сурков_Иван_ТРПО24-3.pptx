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31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Здравствуйте. Представляю курсовую работу «Разработка информационной системы ломбарда с ролевой моделью доступа». Приложение предназначено для работы с заявками и займами, учета залогового имущества и управления пользователями. В проекте я сосредоточился(лась) на бизнес-логике, разграничении доступа и надежной работе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Актуальность темы связана с тем, что в работе ломбарда взаимосвязаны финансовые операции и движение залогового имущества. Система должна хранить единые данные, помогать контролировать состояние займов и ограничивать доступ в зависимости от обязанностей пользователя. Поэтому цель работы — разработать веб-приложение, объединяющее основные процессы ломбарда. При этом важно не только реализовать формы, но и обеспечить корректные переходы между состояниями, защиту данных и понятный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При постановке задачи функциональность была разделена на три роли. Клиент может создавать заявки, просматривать займы, работать с балансом и магазином. Менеджер оценивает залоги, обрабатывает заявки, меняет статусы в пределах заданных правил и ведет складской учет. Администратор дополнительно управляет пользователями, просматривает статистику и экспортирует данные в CSV. Разделение ролей поддерживает принцип минимально необходимых полномочий: каждый пользователь должен получать только те возможности, которые нужны для его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Архитектура построена на Java 17 и Spring Boot 3.2.5. Контроллеры принимают запросы, сервисный слой содержит бизнес-логику, а репозитории обращаются к PostgreSQL через Spring Data JPA и Hibernate. Страницы формируются на сервере с помощью Thymeleaf, поэтому приложение использует MVC и не опирается на REST API. Spring Security отвечает за аутентификацию и авторизацию. Такое разделение помогает поддерживать код и отделяет правила предметной области от деталей интерфейса и хранения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Технологии выбраны сознательно. Java и Spring Boot дают строгую типизацию и готовую безопасность, но порог входа выше, чем у Node.js. Hibernate позволяет работать с объектами предметной области и берет на себя транзакции, хотя при неудачной настройке связей возможны лишние запросы. Thymeleaf отдает готовый HTML с сервера и не требует отдельной клиентской части, ценой меньшей интерактивности, а Chart.js бесплатен и легко подключается для диаграмм статистики.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Для хранения данных используется PostgreSQL. Модель включает пользователей, заявки и займы, залоговое имущество, денежные операции, товары и заказы. Связи между таблицами отражают процессы ломбарда и позволяют избежать избыточного дублирования. На ER-диаграмме важно показать фактические сущности проекта, их первичные и внешние ключи и типы связей. NumberSequence используется для генерации последовательных номеров. При выступлении стоит пояснить одну-две наиболее важные связи, а не перечислять все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Жизненный цикл займа описан через набор состояний и разрешенных переходов. Основной поток проходит от ожидания к подтверждению, выдаче и закрытию. Если заем не погашен в срок, используется отдельная ветка обработки просрочки: имущество получает статус просроченного, затем переводится на склад, после чего может быть выставлено на продажу и куплено. ALLOWED_TRANSITIONS ограничивает допустимые изменения статуса. Система также предусматривает напоминания за три дня, за один день и в день погашения. Проверка просрочки выполняется при обращении к странице займов; через 30 дней предусмотрен перевод залога на склад.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Для паролей применяется BCrypt, доступ ограничен ролями через Spring Security, а CSRF-токены защищают изменяющие запросы от подделки. Thymeleaf экранирует вывод, это защищает от XSS. К базе данных приложение обращается через JPA с параметрами запросов, поэтому пользовательский ввод не подставляется в SQL напрямую. Счета и нумерация защищены транзакциями и блокировкой PESSIMISTIC_WRITE при одновременных запросах. GlobalExceptionHandler обрабатывает ошибки централизованно, для 403, 404 и 500 есть отдельные страницы, так что приложение не падает.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Клиентский интерфейс объединяет просмотр займов, личный счет и магазин. В разделе займов пользователь отслеживает статусы заявок и обязательств. Личный счет показывает баланс и предусмотренные системой операции. Магазин предназначен для просмотра товаров и работы с заказами. Для удобства предусмотрены поиск, фильтрация, пагинация и переключение светлой и темной темы. Во время демонстрации стоит выбрать один понятный сценарий и показать, как пользователь находит нужные сведения и переходит к следующему действию.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Менеджер использует систему для оценки залогового имущества, обработки заявок, приема вещей и ведения склада. При работе с займом изменение статуса ограничено бизнес-правилами, поэтому интерфейс не должен позволять произвольные переходы. Складской раздел показывает имущество, которое находится на хранении, включая залоги, поступившие после просрочки. Поиск и фильтры упрощают работу с записями. На этих скриншотах можно показать путь от регистрации вещи до ее отображения в складском учете.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Администратор имеет доступ к функциям менеджера, а также управляет пользователями и просматривает статистику. Раздел управления учетными записями нужен для контроля ролей и доступных возможностей. Chart.js используется для визуального представления статистики, а экспорт CSV позволяет анализировать данные в табличных редакторах. На слайде лучше показать конкретные элементы интерфейса и кратко объяснить, какую задачу решает каждый из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Проверка охватывает основные сценарии каждой роли, переходы между статусами, обработку просрочки, права доступа и генерацию номеров. Для каждого сценария необходимо сопоставить ожидаемое и фактическое поведение. В частности, нужно убедиться, что запрещенные переходы не выполняются, а при одновременной генерации номеров не возникает дублирования. Таблица на слайде является шаблоном: формулировки результата следует оставить только в том случае, если соответствующие проверки действительно выполнены. Если тестирование было ручным, это лучше обозначить прямо.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 сказать голосом:</a:t>
            </a:r>
          </a:p>
          <a:p>
            <a:r>
              <a:t>В ходе курсовой работы разработано веб-приложение ломбарда с ролевой моделью доступа. Реализованы основные функции клиента, менеджера и администратора, а также контроль жизненного цикла займа и обработка просрочки. Использованы механизмы авторизации, хеширования паролей, CSRF-защиты и транзакционного управления данными. В дальнейшем можно вынести обработку сроков в фоновые задачи, расширить автоматизированное тестирование и добавить аудит действий пользователей. Спасибо за внимание, готов(а)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7680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>
                <a:solidFill>
                  <a:srgbClr val="A0CBCA"/>
                </a:solidFill>
                <a:latin typeface="Aptos"/>
              </a:defRPr>
            </a:pPr>
            <a:r>
              <a:rPr dirty="0"/>
              <a:t>КУРСОВАЯ РАБОТА  ·  СОВРЕМЕННЫЕ ТЕХНОЛОГИИ ПРОГРАММИРОВАНИЯ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4872" y="1645249"/>
            <a:ext cx="868680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информационной</a:t>
            </a:r>
            <a:br>
              <a:rPr dirty="0"/>
            </a:b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ломбарда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862072" y="3214758"/>
            <a:ext cx="77724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0">
                <a:solidFill>
                  <a:srgbClr val="CDD8E4"/>
                </a:solidFill>
                <a:latin typeface="Aptos Display"/>
              </a:defRPr>
            </a:pPr>
            <a:r>
              <a:rPr dirty="0"/>
              <a:t>с </a:t>
            </a:r>
            <a:r>
              <a:rPr dirty="0" err="1"/>
              <a:t>ролевой</a:t>
            </a:r>
            <a:r>
              <a:rPr dirty="0"/>
              <a:t> </a:t>
            </a:r>
            <a:r>
              <a:rPr dirty="0" err="1"/>
              <a:t>моделью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804672" y="4069080"/>
            <a:ext cx="685800" cy="54864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4407408"/>
            <a:ext cx="594360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Выполнил</a:t>
            </a:r>
            <a:r>
              <a:rPr dirty="0"/>
              <a:t>:</a:t>
            </a:r>
            <a:r>
              <a:rPr lang="en-US" dirty="0"/>
              <a:t> </a:t>
            </a:r>
            <a:r>
              <a:rPr lang="ru-RU" dirty="0"/>
              <a:t>Сурков Иван Сергеевич</a:t>
            </a:r>
            <a:br>
              <a:rPr dirty="0"/>
            </a:br>
            <a:r>
              <a:rPr dirty="0" err="1"/>
              <a:t>Группа</a:t>
            </a:r>
            <a:r>
              <a:rPr dirty="0"/>
              <a:t>: </a:t>
            </a:r>
            <a:r>
              <a:rPr lang="ru-RU" dirty="0"/>
              <a:t>ТРПО24-3</a:t>
            </a:r>
            <a:br>
              <a:rPr dirty="0"/>
            </a:br>
            <a:r>
              <a:rPr dirty="0" err="1"/>
              <a:t>Руководитель</a:t>
            </a:r>
            <a:r>
              <a:rPr dirty="0"/>
              <a:t>:</a:t>
            </a:r>
            <a:r>
              <a:rPr lang="ru-RU" dirty="0"/>
              <a:t> </a:t>
            </a:r>
            <a:r>
              <a:rPr lang="ru-RU" sz="1400" dirty="0">
                <a:solidFill>
                  <a:srgbClr val="FFFFFF"/>
                </a:solidFill>
                <a:latin typeface="Aptos"/>
              </a:rPr>
              <a:t>Цыренов Доржо </a:t>
            </a:r>
            <a:r>
              <a:rPr lang="ru-RU" sz="1400" dirty="0" err="1">
                <a:solidFill>
                  <a:srgbClr val="FFFFFF"/>
                </a:solidFill>
                <a:latin typeface="Aptos"/>
              </a:rPr>
              <a:t>Гунденович</a:t>
            </a:r>
            <a:br>
              <a:rPr lang="ru-RU" sz="1400" dirty="0">
                <a:solidFill>
                  <a:srgbClr val="FFFFFF"/>
                </a:solidFill>
                <a:latin typeface="Aptos"/>
              </a:rPr>
            </a:b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04672" y="6144768"/>
            <a:ext cx="6858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0">
                <a:solidFill>
                  <a:srgbClr val="B5C0CD"/>
                </a:solidFill>
                <a:latin typeface="Aptos"/>
              </a:defRPr>
            </a:pPr>
            <a:r>
              <a:rPr lang="ru-RU" dirty="0"/>
              <a:t>Финансовый университет при Правительстве РФ</a:t>
            </a:r>
          </a:p>
          <a:p>
            <a:pPr algn="l">
              <a:defRPr sz="1000" b="0">
                <a:solidFill>
                  <a:srgbClr val="B5C0CD"/>
                </a:solidFill>
                <a:latin typeface="Aptos"/>
              </a:defRPr>
            </a:pPr>
            <a:r>
              <a:rPr lang="ru-RU" dirty="0"/>
              <a:t>Факультет ИТИАБД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t>Актуальность и 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связать</a:t>
            </a:r>
            <a:r>
              <a:rPr dirty="0"/>
              <a:t> </a:t>
            </a:r>
            <a:r>
              <a:rPr dirty="0" err="1"/>
              <a:t>ежедневные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ломбарда</a:t>
            </a:r>
            <a:r>
              <a:rPr dirty="0"/>
              <a:t> в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424160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800" b="0">
                <a:solidFill>
                  <a:srgbClr val="2B3139"/>
                </a:solidFill>
                <a:latin typeface="Aptos"/>
              </a:defRPr>
            </a:pPr>
            <a:r>
              <a:rPr lang="ru-RU" dirty="0"/>
              <a:t>	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ломбарда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оформление</a:t>
            </a:r>
            <a:r>
              <a:rPr dirty="0"/>
              <a:t> </a:t>
            </a:r>
            <a:r>
              <a:rPr dirty="0" err="1"/>
              <a:t>займов</a:t>
            </a:r>
            <a:r>
              <a:rPr dirty="0"/>
              <a:t>, </a:t>
            </a:r>
            <a:r>
              <a:rPr dirty="0" err="1"/>
              <a:t>учет</a:t>
            </a:r>
            <a:r>
              <a:rPr dirty="0"/>
              <a:t> </a:t>
            </a:r>
            <a:r>
              <a:rPr dirty="0" err="1"/>
              <a:t>залогов</a:t>
            </a:r>
            <a:r>
              <a:rPr dirty="0"/>
              <a:t>, </a:t>
            </a:r>
            <a:r>
              <a:rPr dirty="0" err="1"/>
              <a:t>погашение</a:t>
            </a:r>
            <a:r>
              <a:rPr dirty="0"/>
              <a:t> </a:t>
            </a:r>
            <a:r>
              <a:rPr dirty="0" err="1"/>
              <a:t>обязательств</a:t>
            </a:r>
            <a:r>
              <a:rPr dirty="0"/>
              <a:t> и </a:t>
            </a:r>
            <a:r>
              <a:rPr dirty="0" err="1"/>
              <a:t>реализацию</a:t>
            </a:r>
            <a:r>
              <a:rPr dirty="0"/>
              <a:t> </a:t>
            </a:r>
            <a:r>
              <a:rPr dirty="0" err="1"/>
              <a:t>невостребованного</a:t>
            </a:r>
            <a:r>
              <a:rPr dirty="0"/>
              <a:t> </a:t>
            </a:r>
            <a:r>
              <a:rPr dirty="0" err="1"/>
              <a:t>имущества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ведутся</a:t>
            </a:r>
            <a:r>
              <a:rPr dirty="0"/>
              <a:t> </a:t>
            </a:r>
            <a:r>
              <a:rPr dirty="0" err="1"/>
              <a:t>разрозненно</a:t>
            </a:r>
            <a:r>
              <a:rPr dirty="0"/>
              <a:t>, </a:t>
            </a:r>
            <a:r>
              <a:rPr dirty="0" err="1"/>
              <a:t>сложнее</a:t>
            </a:r>
            <a:r>
              <a:rPr dirty="0"/>
              <a:t> </a:t>
            </a:r>
            <a:r>
              <a:rPr dirty="0" err="1"/>
              <a:t>отслеживать</a:t>
            </a:r>
            <a:r>
              <a:rPr dirty="0"/>
              <a:t> </a:t>
            </a:r>
            <a:r>
              <a:rPr dirty="0" err="1"/>
              <a:t>статусы</a:t>
            </a:r>
            <a:r>
              <a:rPr dirty="0"/>
              <a:t> и </a:t>
            </a:r>
            <a:r>
              <a:rPr dirty="0" err="1"/>
              <a:t>контролировать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данным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37560"/>
            <a:ext cx="73152" cy="1403169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3364992"/>
            <a:ext cx="9875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>
                <a:solidFill>
                  <a:srgbClr val="45878B"/>
                </a:solidFill>
                <a:latin typeface="Aptos"/>
              </a:defRPr>
            </a:pPr>
            <a:r>
              <a:t>Цель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67328"/>
            <a:ext cx="9966960" cy="10525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200" b="1">
                <a:solidFill>
                  <a:srgbClr val="1D2B3E"/>
                </a:solidFill>
                <a:latin typeface="Aptos"/>
              </a:defRPr>
            </a:pPr>
            <a:r>
              <a:rPr lang="ru-RU" dirty="0"/>
              <a:t>	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веб-приложение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автоматизирует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ломбарда</a:t>
            </a:r>
            <a:r>
              <a:rPr dirty="0"/>
              <a:t> и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в </a:t>
            </a:r>
            <a:r>
              <a:rPr dirty="0" err="1"/>
              <a:t>соответствии</a:t>
            </a:r>
            <a:r>
              <a:rPr dirty="0"/>
              <a:t> с </a:t>
            </a:r>
            <a:r>
              <a:rPr dirty="0" err="1"/>
              <a:t>ролью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Постановка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Функции распределены между тремя ролями.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345643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737360"/>
            <a:ext cx="3456432" cy="118872"/>
          </a:xfrm>
          <a:prstGeom prst="rect">
            <a:avLst/>
          </a:prstGeom>
          <a:solidFill>
            <a:srgbClr val="39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057400"/>
            <a:ext cx="30175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395B87"/>
                </a:solidFill>
                <a:latin typeface="Aptos"/>
              </a:defRPr>
            </a:pPr>
            <a:r>
              <a:rPr dirty="0"/>
              <a:t>КЛИЕНТ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3017520" cy="2194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Заявки и займы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Погашение и баланс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Магазин и заказы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737360"/>
            <a:ext cx="345643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44568" y="1737360"/>
            <a:ext cx="3456432" cy="118872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057400"/>
            <a:ext cx="30175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45878B"/>
                </a:solidFill>
                <a:latin typeface="Aptos"/>
              </a:defRPr>
            </a:pPr>
            <a:r>
              <a:rPr dirty="0"/>
              <a:t>МЕНЕДЖЕР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3017520" cy="2194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Оценка залогов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Статусы и прием вещей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Складской учет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737360"/>
            <a:ext cx="345643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39328" y="1737360"/>
            <a:ext cx="3456432" cy="118872"/>
          </a:xfrm>
          <a:prstGeom prst="rect">
            <a:avLst/>
          </a:prstGeom>
          <a:solidFill>
            <a:srgbClr val="1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2057400"/>
            <a:ext cx="30175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АДМИНИСТРАТОР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51760"/>
            <a:ext cx="3017520" cy="2194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Все функции менеджера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Управление пользователями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Статистика и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t>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Серверное MVC-приложение без REST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852160" cy="594360"/>
          </a:xfrm>
          <a:prstGeom prst="roundRect">
            <a:avLst/>
          </a:prstGeom>
          <a:solidFill>
            <a:srgbClr val="EDF1F5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28216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D2B3E"/>
                </a:solidFill>
                <a:latin typeface="Aptos"/>
              </a:defRPr>
            </a:pPr>
            <a:r>
              <a:rPr dirty="0" err="1"/>
              <a:t>Браузер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2788920" y="1745960"/>
            <a:ext cx="36576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t>HTML / CSS /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85416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45878B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04872"/>
            <a:ext cx="5852160" cy="594360"/>
          </a:xfrm>
          <a:prstGeom prst="roundRect">
            <a:avLst/>
          </a:prstGeom>
          <a:solidFill>
            <a:srgbClr val="E6EEF7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555748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D2B3E"/>
                </a:solidFill>
                <a:latin typeface="Aptos"/>
              </a:defRPr>
            </a:pPr>
            <a:r>
              <a:rPr dirty="0"/>
              <a:t>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541487"/>
            <a:ext cx="36576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rPr dirty="0" err="1"/>
              <a:t>Прием</a:t>
            </a:r>
            <a:r>
              <a:rPr dirty="0"/>
              <a:t> HTTP-</a:t>
            </a:r>
            <a:r>
              <a:rPr dirty="0" err="1"/>
              <a:t>запросов</a:t>
            </a:r>
            <a:r>
              <a:rPr dirty="0"/>
              <a:t> · </a:t>
            </a:r>
            <a:r>
              <a:rPr dirty="0" err="1"/>
              <a:t>Thymeleaf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429000" y="2971800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4587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72968"/>
            <a:ext cx="5852160" cy="594360"/>
          </a:xfrm>
          <a:prstGeom prst="roundRect">
            <a:avLst/>
          </a:prstGeom>
          <a:solidFill>
            <a:srgbClr val="E8F2F1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301201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D2B3E"/>
                </a:solidFill>
                <a:latin typeface="Aptos"/>
              </a:defRPr>
            </a:pPr>
            <a:r>
              <a:rPr dirty="0"/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312524"/>
            <a:ext cx="36576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rPr dirty="0" err="1"/>
              <a:t>Бизнес-правила</a:t>
            </a:r>
            <a:r>
              <a:rPr dirty="0"/>
              <a:t> · </a:t>
            </a:r>
            <a:r>
              <a:rPr dirty="0" err="1"/>
              <a:t>транзакции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429000" y="3758183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4587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59352"/>
            <a:ext cx="5852160" cy="594360"/>
          </a:xfrm>
          <a:prstGeom prst="roundRect">
            <a:avLst/>
          </a:prstGeom>
          <a:solidFill>
            <a:srgbClr val="E6EEF7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128516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D2B3E"/>
                </a:solidFill>
                <a:latin typeface="Aptos"/>
              </a:defRPr>
            </a:pPr>
            <a:r>
              <a:rPr dirty="0"/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151375"/>
            <a:ext cx="36576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rPr dirty="0"/>
              <a:t>Spring Data JPA / Hibernate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44568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4587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45736"/>
            <a:ext cx="5852160" cy="594360"/>
          </a:xfrm>
          <a:prstGeom prst="roundRect">
            <a:avLst/>
          </a:prstGeom>
          <a:solidFill>
            <a:srgbClr val="EDF1F5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4914900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1">
                <a:solidFill>
                  <a:srgbClr val="1D2B3E"/>
                </a:solidFill>
                <a:latin typeface="Aptos"/>
              </a:defRPr>
            </a:pPr>
            <a:r>
              <a:rPr dirty="0"/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8406" y="4938848"/>
            <a:ext cx="36576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7086600" y="1664208"/>
            <a:ext cx="42062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1965960"/>
            <a:ext cx="3566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1D2B3E"/>
                </a:solidFill>
                <a:latin typeface="Aptos"/>
              </a:defRPr>
            </a:pPr>
            <a:r>
              <a:t>Технологии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2606040"/>
            <a:ext cx="3657600" cy="23774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/>
              <a:t>Java 17 · Spring Boot 3.2.5</a:t>
            </a:r>
          </a:p>
          <a:p>
            <a:pPr>
              <a:spcAft>
                <a:spcPts val="12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/>
              <a:t>Spring Security · </a:t>
            </a:r>
            <a:r>
              <a:rPr dirty="0" err="1"/>
              <a:t>сессии</a:t>
            </a:r>
            <a:r>
              <a:rPr dirty="0"/>
              <a:t> · CSRF</a:t>
            </a:r>
          </a:p>
          <a:p>
            <a:pPr>
              <a:spcAft>
                <a:spcPts val="12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 err="1"/>
              <a:t>Thymeleaf</a:t>
            </a:r>
            <a:r>
              <a:rPr dirty="0"/>
              <a:t> · HTML/CSS/JS</a:t>
            </a:r>
          </a:p>
          <a:p>
            <a:pPr>
              <a:spcAft>
                <a:spcPts val="12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/>
              <a:t>Chart.js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статистики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Выбор технологий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Каждый выбор сопоставлен с альтернативой и ее недостатками.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345643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737360"/>
            <a:ext cx="3456432" cy="118872"/>
          </a:xfrm>
          <a:prstGeom prst="rect">
            <a:avLst/>
          </a:prstGeom>
          <a:solidFill>
            <a:srgbClr val="39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057400"/>
            <a:ext cx="30175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395B87"/>
                </a:solidFill>
                <a:latin typeface="Aptos"/>
              </a:defRPr>
            </a:pPr>
            <a:r>
              <a:rPr dirty="0"/>
              <a:t>СЕРВЕР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3017520" cy="2194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Java + Spring Boot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вместо Node.js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строгая типизация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минус: порог входа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737360"/>
            <a:ext cx="345643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44568" y="1737360"/>
            <a:ext cx="3456432" cy="118872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057400"/>
            <a:ext cx="30175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45878B"/>
                </a:solidFill>
                <a:latin typeface="Aptos"/>
              </a:defRPr>
            </a:pPr>
            <a:r>
              <a:rPr dirty="0"/>
              <a:t>ДОСТУП К ДАННЫМ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3017520" cy="2194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Hibernate (JPA)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вместо MyBatis и JDBC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работа с объектами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минус: риск лишних запросов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737360"/>
            <a:ext cx="345643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39328" y="1737360"/>
            <a:ext cx="3456432" cy="118872"/>
          </a:xfrm>
          <a:prstGeom prst="rect">
            <a:avLst/>
          </a:prstGeom>
          <a:solidFill>
            <a:srgbClr val="1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2057400"/>
            <a:ext cx="30175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ИНТЕРФЕЙС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51760"/>
            <a:ext cx="3017520" cy="2194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Thymeleaf + Chart.js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вместо React / Vue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готовый HTML с сервера</a:t>
            </a:r>
          </a:p>
          <a:p>
            <a:pPr>
              <a:spcAft>
                <a:spcPts val="15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минус: меньше интерактивности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Структура хранения повторяет основные объекты предметной области.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627632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246686"/>
            <a:ext cx="288036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1D2B3E"/>
                </a:solidFill>
                <a:latin typeface="Aptos"/>
              </a:defRPr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сущности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924107" y="2612136"/>
            <a:ext cx="2834640" cy="28346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 err="1"/>
              <a:t>Пользователи</a:t>
            </a:r>
            <a:endParaRPr dirty="0"/>
          </a:p>
          <a:p>
            <a:pPr>
              <a:spcAft>
                <a:spcPts val="13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 err="1"/>
              <a:t>Заявки</a:t>
            </a:r>
            <a:r>
              <a:rPr dirty="0"/>
              <a:t> и </a:t>
            </a:r>
            <a:r>
              <a:rPr dirty="0" err="1"/>
              <a:t>займы</a:t>
            </a:r>
            <a:endParaRPr dirty="0"/>
          </a:p>
          <a:p>
            <a:pPr>
              <a:spcAft>
                <a:spcPts val="13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 err="1"/>
              <a:t>Залоговое</a:t>
            </a:r>
            <a:r>
              <a:rPr dirty="0"/>
              <a:t> </a:t>
            </a:r>
            <a:r>
              <a:rPr dirty="0" err="1"/>
              <a:t>имущество</a:t>
            </a:r>
            <a:endParaRPr dirty="0"/>
          </a:p>
          <a:p>
            <a:pPr>
              <a:spcAft>
                <a:spcPts val="13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 err="1"/>
              <a:t>Операции</a:t>
            </a:r>
            <a:r>
              <a:rPr dirty="0"/>
              <a:t> и </a:t>
            </a:r>
            <a:r>
              <a:rPr dirty="0" err="1"/>
              <a:t>заказы</a:t>
            </a:r>
            <a:endParaRPr dirty="0"/>
          </a:p>
          <a:p>
            <a:pPr>
              <a:spcAft>
                <a:spcPts val="1300"/>
              </a:spcAft>
              <a:defRPr sz="1500">
                <a:solidFill>
                  <a:srgbClr val="2B3139"/>
                </a:solidFill>
                <a:latin typeface="Aptos"/>
              </a:defRPr>
            </a:pPr>
            <a:r>
              <a:rPr dirty="0" err="1"/>
              <a:t>NumberSequence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D73AA5-74AA-ED6F-5F9F-6AA1DD7A3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71550"/>
            <a:ext cx="6090930" cy="51852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t>Жизненный цикл займа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Переходы между состояниями контролируются бизнес-правилами.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57276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14264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В ожидании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993392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4587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57276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2" y="1938528"/>
            <a:ext cx="14264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Ожидает</a:t>
            </a:r>
            <a:br/>
            <a:r>
              <a:t>подтверждения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1993392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4587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157276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938528"/>
            <a:ext cx="14264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Выдан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1993392"/>
            <a:ext cx="2743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4587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157276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38528"/>
            <a:ext cx="14264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Закрыт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97180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45878B"/>
                </a:solidFill>
                <a:latin typeface="Aptos"/>
              </a:defRPr>
            </a:pPr>
            <a:r>
              <a:t>ВЕТКА ПРОСРОЧКИ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1600200" cy="694944"/>
          </a:xfrm>
          <a:prstGeom prst="roundRect">
            <a:avLst/>
          </a:prstGeom>
          <a:solidFill>
            <a:srgbClr val="E8F2F1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611880"/>
            <a:ext cx="1508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Просрочен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6584" y="3675887"/>
            <a:ext cx="3474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4587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474720"/>
            <a:ext cx="1600200" cy="694944"/>
          </a:xfrm>
          <a:prstGeom prst="roundRect">
            <a:avLst/>
          </a:prstGeom>
          <a:solidFill>
            <a:srgbClr val="E8F2F1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79" y="3611880"/>
            <a:ext cx="1508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На складе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675887"/>
            <a:ext cx="3474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4587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474720"/>
            <a:ext cx="1600200" cy="694944"/>
          </a:xfrm>
          <a:prstGeom prst="roundRect">
            <a:avLst/>
          </a:prstGeom>
          <a:solidFill>
            <a:srgbClr val="E8F2F1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3611880"/>
            <a:ext cx="1508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На продаже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3675887"/>
            <a:ext cx="3474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700" b="1">
                <a:solidFill>
                  <a:srgbClr val="4587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3474720"/>
            <a:ext cx="1600200" cy="694944"/>
          </a:xfrm>
          <a:prstGeom prst="roundRect">
            <a:avLst/>
          </a:prstGeom>
          <a:solidFill>
            <a:srgbClr val="EDF1F5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3611880"/>
            <a:ext cx="15087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D2B3E"/>
                </a:solidFill>
                <a:latin typeface="Aptos"/>
              </a:defRPr>
            </a:pPr>
            <a:r>
              <a:t>Куплен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663440"/>
            <a:ext cx="10424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" y="4828032"/>
            <a:ext cx="2057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>
                <a:solidFill>
                  <a:srgbClr val="1D2B3E"/>
                </a:solidFill>
                <a:latin typeface="Aptos"/>
              </a:defRPr>
            </a:pPr>
            <a:r>
              <a:t>ALLOWED_TRANSITIONS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782312"/>
            <a:ext cx="7498079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>
                <a:solidFill>
                  <a:srgbClr val="2B3139"/>
                </a:solidFill>
                <a:latin typeface="Aptos"/>
              </a:defRPr>
            </a:pPr>
            <a:r>
              <a:rPr dirty="0" err="1"/>
              <a:t>Напоминания</a:t>
            </a:r>
            <a:r>
              <a:rPr dirty="0"/>
              <a:t>: </a:t>
            </a:r>
            <a:r>
              <a:rPr dirty="0" err="1"/>
              <a:t>за</a:t>
            </a:r>
            <a:r>
              <a:rPr dirty="0"/>
              <a:t> 3 / 1 / 0 </a:t>
            </a:r>
            <a:r>
              <a:rPr dirty="0" err="1"/>
              <a:t>дней</a:t>
            </a:r>
            <a:r>
              <a:rPr dirty="0"/>
              <a:t>  ·  </a:t>
            </a:r>
            <a:r>
              <a:rPr dirty="0" err="1"/>
              <a:t>Через</a:t>
            </a:r>
            <a:r>
              <a:rPr dirty="0"/>
              <a:t> 30 </a:t>
            </a:r>
            <a:r>
              <a:rPr dirty="0" err="1"/>
              <a:t>дней</a:t>
            </a:r>
            <a:r>
              <a:rPr dirty="0"/>
              <a:t> </a:t>
            </a:r>
            <a:r>
              <a:rPr dirty="0" err="1"/>
              <a:t>просрочки</a:t>
            </a:r>
            <a:r>
              <a:rPr dirty="0"/>
              <a:t> </a:t>
            </a:r>
            <a:r>
              <a:rPr lang="ru-RU" dirty="0"/>
              <a:t>вещь отправляется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склад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Безопасность</a:t>
            </a:r>
            <a:r>
              <a:rPr dirty="0"/>
              <a:t> и </a:t>
            </a:r>
            <a:r>
              <a:rPr dirty="0" err="1"/>
              <a:t>надежность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Защита реализована на уровне запросов, бизнес-операций и хранения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73736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011680"/>
            <a:ext cx="43891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1">
                <a:solidFill>
                  <a:srgbClr val="395B87"/>
                </a:solidFill>
                <a:latin typeface="Aptos"/>
              </a:defRPr>
            </a:pPr>
            <a:r>
              <a:rPr dirty="0"/>
              <a:t>ДОСТУП И ВВОД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24128" y="2560320"/>
            <a:ext cx="4526280" cy="23774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BCrypt для паролей</a:t>
            </a:r>
          </a:p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Роли и правила Spring Security</a:t>
            </a:r>
          </a:p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CSRF-токены</a:t>
            </a:r>
          </a:p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Экранирование Thymeleaf (XSS)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73736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38544" y="2011680"/>
            <a:ext cx="43891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1">
                <a:solidFill>
                  <a:srgbClr val="45878B"/>
                </a:solidFill>
                <a:latin typeface="Aptos"/>
              </a:defRPr>
            </a:pPr>
            <a:r>
              <a:rPr dirty="0"/>
              <a:t>ЦЕЛОСТНОСТЬ И ОШИБКИ: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560320"/>
            <a:ext cx="4526280" cy="23774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Параметры в запросах JPA (SQL-инъекции)</a:t>
            </a:r>
          </a:p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Транзакции и PESSIMISTIC_WRITE</a:t>
            </a:r>
          </a:p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GlobalExceptionHandler</a:t>
            </a:r>
          </a:p>
          <a:p>
            <a:pPr>
              <a:spcAft>
                <a:spcPts val="1400"/>
              </a:spcAft>
              <a:defRPr sz="1600">
                <a:solidFill>
                  <a:srgbClr val="2B3139"/>
                </a:solidFill>
                <a:latin typeface="Aptos"/>
              </a:defRPr>
            </a:pPr>
            <a:r>
              <a:t>Страницы 403 / 404 /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04241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Механизмы</a:t>
            </a:r>
            <a:r>
              <a:rPr dirty="0"/>
              <a:t> </a:t>
            </a:r>
            <a:r>
              <a:rPr dirty="0" err="1"/>
              <a:t>снижают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корректной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и </a:t>
            </a:r>
            <a:r>
              <a:rPr dirty="0" err="1"/>
              <a:t>использовании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Основные действия доступны из личного кабинета.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60719"/>
            <a:ext cx="31272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МОИ ЗАЙМЫ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2471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Список</a:t>
            </a:r>
            <a:r>
              <a:rPr dirty="0"/>
              <a:t> и </a:t>
            </a:r>
            <a:r>
              <a:rPr dirty="0" err="1"/>
              <a:t>статусы</a:t>
            </a:r>
            <a:r>
              <a:rPr dirty="0"/>
              <a:t> </a:t>
            </a:r>
            <a:r>
              <a:rPr dirty="0" err="1"/>
              <a:t>займов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206240" y="5178039"/>
            <a:ext cx="31272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ЛИЧНЫЙ СЧЕТ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479791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Баланс</a:t>
            </a:r>
            <a:r>
              <a:rPr dirty="0"/>
              <a:t> и </a:t>
            </a:r>
            <a:r>
              <a:rPr dirty="0" err="1"/>
              <a:t>операции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498079" y="5554551"/>
            <a:ext cx="31272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МАГАЗИН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856303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товаров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0ABC3C-EADE-713F-9643-416F764A2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6400800" cy="18861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2BC62F-6FB3-A780-543B-6A8398D4B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783080"/>
            <a:ext cx="3931920" cy="368003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11EBDC9-AE32-A34B-0584-6907C802B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55079"/>
            <a:ext cx="3291840" cy="2169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t>Интерфейс менеджера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Рабочие разделы для обработки залогов и учета имущества.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044" y="5561512"/>
            <a:ext cx="31272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ОЦЕНКА ЗАЛОГА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1912" y="5904412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имущества</a:t>
            </a:r>
            <a:r>
              <a:rPr dirty="0"/>
              <a:t> и </a:t>
            </a:r>
            <a:r>
              <a:rPr dirty="0" err="1"/>
              <a:t>оценка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372024" y="5365597"/>
            <a:ext cx="31272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СКЛАД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20" y="5708497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имущества</a:t>
            </a:r>
            <a:r>
              <a:rPr dirty="0"/>
              <a:t> и </a:t>
            </a:r>
            <a:r>
              <a:rPr dirty="0" err="1"/>
              <a:t>статусы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590399" y="3345882"/>
            <a:ext cx="31272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ПРИЕМ ВЕЩЕЙ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4194" y="3681568"/>
            <a:ext cx="312724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lang="ru-RU"/>
              <a:t>Форма регистрации </a:t>
            </a:r>
            <a:r>
              <a:t>имущества</a:t>
            </a:r>
            <a:endParaRPr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24A8C78-C36B-F268-6809-99B53C4A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286" y="3929897"/>
            <a:ext cx="5400714" cy="154306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99D7692-ACC9-F85B-B60C-102D62493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36" y="1479341"/>
            <a:ext cx="5343564" cy="198121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56C96D9-45BA-3CC6-E0C9-51FB9B708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42" y="1486893"/>
            <a:ext cx="6172245" cy="4162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697078"/>
                </a:solidFill>
                <a:latin typeface="Aptos"/>
              </a:defRPr>
            </a:pPr>
            <a:r>
              <a:t>КУРСОВАЯ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Административные инструменты и сводная информация.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5510" y="4622141"/>
            <a:ext cx="4745736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УПРАВЛЕНИЕ ПОЛЬЗОВАТЕЛЯМИ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020" y="4953988"/>
            <a:ext cx="474573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Учетные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и </a:t>
            </a:r>
            <a:r>
              <a:rPr dirty="0" err="1"/>
              <a:t>роли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4107" y="5648731"/>
            <a:ext cx="4745736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D2B3E"/>
                </a:solidFill>
                <a:latin typeface="Aptos"/>
              </a:defRPr>
            </a:pPr>
            <a:r>
              <a:rPr dirty="0"/>
              <a:t>СТАТИСТИКА CHART.JS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1797" y="5991631"/>
            <a:ext cx="474573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0">
                <a:solidFill>
                  <a:srgbClr val="697078"/>
                </a:solidFill>
                <a:latin typeface="Aptos"/>
              </a:defRPr>
            </a:pPr>
            <a:r>
              <a:rPr dirty="0" err="1"/>
              <a:t>Графики</a:t>
            </a:r>
            <a:r>
              <a:rPr dirty="0"/>
              <a:t> </a:t>
            </a:r>
            <a:r>
              <a:rPr dirty="0" err="1"/>
              <a:t>показателей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E569DA-BD3A-E9F3-7536-BD66AD718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437" y="448056"/>
            <a:ext cx="4743073" cy="52006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1D15FBD-0575-0651-AB1A-0A92DE0AE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63" y="2664545"/>
            <a:ext cx="6115095" cy="19145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697078"/>
                </a:solidFill>
                <a:latin typeface="Aptos"/>
              </a:defRPr>
            </a:pPr>
            <a:r>
              <a:rPr dirty="0"/>
              <a:t>КУРСОВАЯ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45878B"/>
                </a:solidFill>
                <a:latin typeface="Aptos"/>
              </a:defRPr>
            </a:pPr>
            <a:r>
              <a:t>СЦЕНАРИЙ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64208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45878B"/>
                </a:solidFill>
                <a:latin typeface="Aptos"/>
              </a:defRPr>
            </a:pPr>
            <a:r>
              <a:t>ЧТО ПРОВЕРЯЕМ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64208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>
                <a:solidFill>
                  <a:srgbClr val="45878B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574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03704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>
                <a:solidFill>
                  <a:srgbClr val="1D2B3E"/>
                </a:solidFill>
                <a:latin typeface="Aptos"/>
              </a:defRPr>
            </a:pPr>
            <a:r>
              <a:t>Ролевой доступ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194560"/>
            <a:ext cx="3429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rPr dirty="0" err="1"/>
              <a:t>Недоступные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закрыты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роли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635240" y="219456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97078"/>
                </a:solidFill>
                <a:latin typeface="Aptos"/>
              </a:defRPr>
            </a:pPr>
            <a:r>
              <a:rPr lang="ru-RU" sz="1100" b="1" dirty="0">
                <a:solidFill>
                  <a:srgbClr val="697078"/>
                </a:solidFill>
                <a:latin typeface="Aptos"/>
              </a:rPr>
              <a:t>При попытке клиента зайти в /</a:t>
            </a:r>
            <a:r>
              <a:rPr lang="ru-RU" sz="1100" b="1" dirty="0" err="1">
                <a:solidFill>
                  <a:srgbClr val="697078"/>
                </a:solidFill>
                <a:latin typeface="Aptos"/>
              </a:rPr>
              <a:t>admin</a:t>
            </a:r>
            <a:r>
              <a:rPr lang="ru-RU" sz="1100" b="1" dirty="0">
                <a:solidFill>
                  <a:srgbClr val="697078"/>
                </a:solidFill>
                <a:latin typeface="Aptos"/>
              </a:rPr>
              <a:t> выдается 403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49808" y="2862072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08376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>
                <a:solidFill>
                  <a:srgbClr val="1D2B3E"/>
                </a:solidFill>
                <a:latin typeface="Aptos"/>
              </a:defRPr>
            </a:pPr>
            <a:r>
              <a:t>Статусы займа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99232"/>
            <a:ext cx="3429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t>Разрешенные и запрещенные переходы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999232"/>
            <a:ext cx="3474720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97078"/>
                </a:solidFill>
                <a:latin typeface="Aptos"/>
              </a:defRPr>
            </a:pPr>
            <a:r>
              <a:rPr lang="ru-RU" sz="1100" b="1" dirty="0">
                <a:solidFill>
                  <a:srgbClr val="697078"/>
                </a:solidFill>
                <a:latin typeface="Aptos"/>
              </a:rPr>
              <a:t>Недопустимый переход (например, из «Закрыт» в «Выдан») блокируется картой ALLOWED_TRANSITIONS</a:t>
            </a:r>
            <a:r>
              <a:rPr lang="ru-RU" sz="1100" dirty="0">
                <a:solidFill>
                  <a:srgbClr val="697078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49808" y="3666744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13048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>
                <a:solidFill>
                  <a:srgbClr val="1D2B3E"/>
                </a:solidFill>
                <a:latin typeface="Aptos"/>
              </a:defRPr>
            </a:pPr>
            <a:r>
              <a:t>Просрочка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803904"/>
            <a:ext cx="3429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t>Напоминания и перевод на склад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803904"/>
            <a:ext cx="347472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97078"/>
                </a:solidFill>
                <a:latin typeface="Aptos"/>
              </a:defRPr>
            </a:pPr>
            <a:r>
              <a:rPr lang="ru-RU" sz="1100" b="1" dirty="0">
                <a:solidFill>
                  <a:srgbClr val="697078"/>
                </a:solidFill>
                <a:latin typeface="Aptos"/>
              </a:rPr>
              <a:t>Через 30 дней статус меняется на «На складе», уведомления приходят за 3/1/0 дней</a:t>
            </a:r>
            <a:r>
              <a:rPr lang="ru-RU" sz="1100" dirty="0">
                <a:solidFill>
                  <a:srgbClr val="697078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49808" y="447141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>
                <a:solidFill>
                  <a:srgbClr val="1D2B3E"/>
                </a:solidFill>
                <a:latin typeface="Aptos"/>
              </a:defRPr>
            </a:pPr>
            <a:r>
              <a:t>Номера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608576"/>
            <a:ext cx="3429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2B3139"/>
                </a:solidFill>
                <a:latin typeface="Aptos"/>
              </a:defRPr>
            </a:pPr>
            <a:r>
              <a:t>Одновременные операции с NumberSequence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608576"/>
            <a:ext cx="3474720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97078"/>
                </a:solidFill>
                <a:latin typeface="Aptos"/>
              </a:defRPr>
            </a:pPr>
            <a:r>
              <a:rPr lang="ru-RU" sz="1100" b="1" dirty="0">
                <a:solidFill>
                  <a:srgbClr val="697078"/>
                </a:solidFill>
                <a:latin typeface="Aptos"/>
              </a:rPr>
              <a:t>При параллельных запросах номера уникальны благодаря блокировке PESSIMISTIC_WRITE</a:t>
            </a:r>
            <a:r>
              <a:rPr lang="ru-RU" sz="1100" dirty="0">
                <a:solidFill>
                  <a:srgbClr val="697078"/>
                </a:solidFill>
                <a:latin typeface="Aptos"/>
              </a:rPr>
              <a:t>.</a:t>
            </a:r>
            <a:br>
              <a:rPr lang="ru-RU" sz="1100" dirty="0">
                <a:solidFill>
                  <a:srgbClr val="697078"/>
                </a:solidFill>
                <a:latin typeface="Aptos"/>
              </a:rPr>
            </a:b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>
                <a:solidFill>
                  <a:srgbClr val="697078"/>
                </a:solidFill>
                <a:latin typeface="Aptos"/>
              </a:defRPr>
            </a:pPr>
            <a:r>
              <a:rPr dirty="0"/>
              <a:t>КУРСОВАЯ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>
                <a:solidFill>
                  <a:srgbClr val="1D2B3E"/>
                </a:solidFill>
                <a:latin typeface="Aptos Display"/>
              </a:defRPr>
            </a:pPr>
            <a: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>
                <a:solidFill>
                  <a:srgbClr val="697078"/>
                </a:solidFill>
                <a:latin typeface="Aptos"/>
              </a:defRPr>
            </a:pPr>
            <a:r>
              <a:t>Основные результаты и направления дальнейшей работы.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1400"/>
              </a:spcAft>
              <a:defRPr sz="1900" b="0">
                <a:solidFill>
                  <a:srgbClr val="2B3139"/>
                </a:solidFill>
                <a:latin typeface="Aptos"/>
              </a:defRPr>
            </a:pPr>
            <a:r>
              <a:rPr lang="en-US" dirty="0"/>
              <a:t>Разработано веб-приложение ломбарда с тремя ролями: клиент, менеджер, администратор.</a:t>
            </a:r>
          </a:p>
          <a:p>
            <a:pPr algn="l">
              <a:spcAft>
                <a:spcPts val="1400"/>
              </a:spcAft>
              <a:defRPr sz="1900" b="0">
                <a:solidFill>
                  <a:srgbClr val="2B3139"/>
                </a:solidFill>
                <a:latin typeface="Aptos"/>
              </a:defRPr>
            </a:pPr>
            <a:r>
              <a:rPr lang="en-US" dirty="0"/>
              <a:t>Реализованы заявки и займы с контролем статусов, обработка просрочек, личный счет, склад и магазин.</a:t>
            </a:r>
          </a:p>
          <a:p>
            <a:pPr algn="l">
              <a:spcAft>
                <a:spcPts val="1400"/>
              </a:spcAft>
              <a:defRPr sz="1900" b="0">
                <a:solidFill>
                  <a:srgbClr val="2B3139"/>
                </a:solidFill>
                <a:latin typeface="Aptos"/>
              </a:defRPr>
            </a:pPr>
            <a:r>
              <a:rPr lang="en-US" dirty="0"/>
              <a:t>Защита: BCrypt, CSRF, экранирование Thymeleaf, параметризованные запросы, единая обработка ошибок.</a:t>
            </a:r>
          </a:p>
          <a:p>
            <a:pPr algn="l">
              <a:spcAft>
                <a:spcPts val="1400"/>
              </a:spcAft>
              <a:defRPr sz="1900" b="0">
                <a:solidFill>
                  <a:srgbClr val="2B3139"/>
                </a:solidFill>
                <a:latin typeface="Aptos"/>
              </a:defRPr>
            </a:pPr>
            <a:r>
              <a:rPr lang="en-US" dirty="0"/>
              <a:t>Дальше: фоновая обработка сроков, автотесты, e-mail и SMS-уведомления.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5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lang="ru-RU" sz="900" b="1" dirty="0">
                <a:solidFill>
                  <a:srgbClr val="697078"/>
                </a:solidFill>
                <a:latin typeface="Aptos"/>
                <a:cs typeface="Aptos"/>
              </a:rPr>
              <a:t>КУРСОВАЯ РАБОТА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8400" y="2011680"/>
            <a:ext cx="73152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21280" y="2857500"/>
            <a:ext cx="694944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ru-RU" sz="4000" b="1" dirty="0">
                <a:solidFill>
                  <a:srgbClr val="1D2B3E"/>
                </a:solidFill>
                <a:latin typeface="Aptos Display"/>
                <a:cs typeface="Aptos Display"/>
              </a:rP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280" y="3566160"/>
            <a:ext cx="69494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ctr"/>
            <a:endParaRPr lang="ru-RU" sz="1600" b="0" dirty="0">
              <a:solidFill>
                <a:srgbClr val="697078"/>
              </a:solidFill>
              <a:latin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38400" y="4892040"/>
            <a:ext cx="7315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1800">
                <a:solidFill>
                  <a:srgbClr val="1F2A44"/>
                </a:solidFill>
              </a:rPr>
              <a:t>Исходный код: github.com/Ivanpython2006/lombard-project</a:t>
            </a:r>
            <a:endParaRPr lang="ru-RU" sz="1100" b="0" dirty="0">
              <a:solidFill>
                <a:srgbClr val="697078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1670</Words>
  <Application>Microsoft Office PowerPoint</Application>
  <PresentationFormat>Широкоэкранный</PresentationFormat>
  <Paragraphs>178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konder</dc:creator>
  <cp:keywords/>
  <dc:description>generated using python-pptx</dc:description>
  <cp:lastModifiedBy>Иван Сурков</cp:lastModifiedBy>
  <cp:revision>12</cp:revision>
  <dcterms:created xsi:type="dcterms:W3CDTF">2013-01-27T09:14:16Z</dcterms:created>
  <dcterms:modified xsi:type="dcterms:W3CDTF">2026-10-22T19:06:07Z</dcterms:modified>
  <cp:category/>
</cp:coreProperties>
</file>